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67" r:id="rId6"/>
    <p:sldId id="259" r:id="rId7"/>
    <p:sldId id="268" r:id="rId8"/>
    <p:sldId id="260" r:id="rId9"/>
    <p:sldId id="269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43742"/>
            <a:ext cx="8229600" cy="2155372"/>
          </a:xfrm>
        </p:spPr>
        <p:txBody>
          <a:bodyPr>
            <a:normAutofit/>
          </a:bodyPr>
          <a:lstStyle/>
          <a:p>
            <a:r>
              <a:rPr lang="en-US" dirty="0"/>
              <a:t>Mitron Bank</a:t>
            </a:r>
            <a:br>
              <a:rPr lang="en-US" dirty="0"/>
            </a:br>
            <a:r>
              <a:rPr lang="en-US" dirty="0"/>
              <a:t> Analysis Dashboard  Power BI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05199"/>
            <a:ext cx="8229600" cy="2620963"/>
          </a:xfrm>
        </p:spPr>
        <p:txBody>
          <a:bodyPr>
            <a:normAutofit lnSpcReduction="10000"/>
          </a:bodyPr>
          <a:lstStyle/>
          <a:p>
            <a:endParaRPr lang="en-IN" dirty="0"/>
          </a:p>
          <a:p>
            <a:r>
              <a:rPr dirty="0"/>
              <a:t>Prepared by: </a:t>
            </a:r>
            <a:r>
              <a:rPr lang="en-IN" dirty="0"/>
              <a:t>Vishal Rathore</a:t>
            </a:r>
          </a:p>
          <a:p>
            <a:r>
              <a:rPr lang="en-IN" dirty="0"/>
              <a:t>Roll No. IA00940</a:t>
            </a:r>
            <a:endParaRPr dirty="0"/>
          </a:p>
          <a:p>
            <a:r>
              <a:rPr dirty="0"/>
              <a:t>Summary of operational insights from </a:t>
            </a:r>
            <a:r>
              <a:rPr lang="en-US" dirty="0"/>
              <a:t>Mitron Bank</a:t>
            </a:r>
            <a:r>
              <a:rPr dirty="0"/>
              <a:t> </a:t>
            </a:r>
            <a:r>
              <a:rPr lang="en-IN" dirty="0"/>
              <a:t>D</a:t>
            </a:r>
            <a:r>
              <a:rPr dirty="0"/>
              <a:t>dataset.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A9434-EF92-FE84-7266-0FADE679B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"/>
            <a:ext cx="9144000" cy="1436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7935-BBB2-2BF0-F163-4C9F615E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MITRON BANK BUISNESS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C91C641-0ACB-E1DB-1E38-FFBD675168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42651"/>
            <a:ext cx="8229600" cy="424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51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67543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Total Customers: 4,000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Average Income:</a:t>
            </a:r>
            <a:r>
              <a:rPr lang="en-IN" dirty="0"/>
              <a:t> ₹51,657 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Avg. Monthly Spend:</a:t>
            </a:r>
            <a:r>
              <a:rPr lang="en-IN" dirty="0"/>
              <a:t> ₹22,120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Utilization Rate:</a:t>
            </a:r>
            <a:r>
              <a:rPr lang="en-IN" dirty="0"/>
              <a:t> 42.82%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Observation:</a:t>
            </a:r>
            <a:r>
              <a:rPr lang="en-US" dirty="0"/>
              <a:t> Credit Cards are the leading payment method (₹216M), significantly outperforming UPI and Debit Cards.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Analyst Insight:</a:t>
            </a:r>
            <a:r>
              <a:rPr lang="en-US" dirty="0"/>
              <a:t> The high average income suggests a customer base with significant purchasing power, but a 42% utilization rate indicates room to grow credit limits for top-tier spenders.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C4106CF-F5D3-C3CD-2AD6-A1603F2B5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Utilization Rate: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42.82%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408E9D1-3E63-BE84-B3BE-70F6B0BA3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54629" y="556084"/>
            <a:ext cx="97971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Customer Demographics Classification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Age Group Breakdown: </a:t>
            </a:r>
            <a:r>
              <a:rPr lang="en-US" dirty="0"/>
              <a:t>The 25-34 age group is the largest segment, followed by 35-45</a:t>
            </a:r>
            <a:r>
              <a:rPr dirty="0"/>
              <a:t>.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Gender Analysis:</a:t>
            </a:r>
          </a:p>
          <a:p>
            <a:pPr marL="0" indent="0">
              <a:buNone/>
            </a:pPr>
            <a:r>
              <a:rPr lang="en-US" b="1" dirty="0"/>
              <a:t>             Male:</a:t>
            </a:r>
            <a:r>
              <a:rPr lang="en-US" dirty="0"/>
              <a:t> 64.93% (2.6K customers)</a:t>
            </a:r>
          </a:p>
          <a:p>
            <a:pPr marL="0" indent="0">
              <a:buNone/>
            </a:pPr>
            <a:r>
              <a:rPr lang="en-US" b="1" dirty="0"/>
              <a:t>            Female:</a:t>
            </a:r>
            <a:r>
              <a:rPr lang="en-US" dirty="0"/>
              <a:t> 35.08% (1.4K customers)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r>
              <a:rPr lang="en-US" b="1" dirty="0"/>
              <a:t>Geographic Distribution:</a:t>
            </a:r>
            <a:r>
              <a:rPr lang="en-US" dirty="0"/>
              <a:t> Mumbai is the primary hub, followed by Chennai and Bengaluru.</a:t>
            </a:r>
            <a:r>
              <a:rPr lang="en-US" b="1" dirty="0"/>
              <a:t> </a:t>
            </a:r>
          </a:p>
          <a:p>
            <a:pPr marL="514350" indent="-514350">
              <a:buFont typeface="+mj-lt"/>
              <a:buAutoNum type="arabicPeriod" startAt="3"/>
            </a:pPr>
            <a:endParaRPr lang="en-US" b="1" dirty="0"/>
          </a:p>
          <a:p>
            <a:pPr marL="514350" indent="-514350">
              <a:buFont typeface="+mj-lt"/>
              <a:buAutoNum type="arabicPeriod" startAt="3"/>
            </a:pPr>
            <a:r>
              <a:rPr lang="en-US" b="1" dirty="0"/>
              <a:t>Analyst Suggestion:</a:t>
            </a:r>
            <a:r>
              <a:rPr lang="en-US" dirty="0"/>
              <a:t> Targeted marketing should focus on the 25-34 demographic in Mumbai, as they represent the highest volume of potential credit card users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75B6-DD07-854D-F828-DE201C39C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Classify Customers by Demographics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922004-1A81-07C4-7EE3-E978E2E581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59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95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Average Income Utilization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 </a:t>
            </a:r>
            <a:r>
              <a:rPr lang="en-US" b="1" dirty="0"/>
              <a:t>Top Performers:</a:t>
            </a:r>
            <a:r>
              <a:rPr lang="en-US" dirty="0"/>
              <a:t> </a:t>
            </a:r>
            <a:r>
              <a:rPr lang="en-US" b="1" dirty="0"/>
              <a:t>Salaried IT Employees</a:t>
            </a:r>
            <a:r>
              <a:rPr lang="en-US" dirty="0"/>
              <a:t> have the highest utilization (21.6% for married, 20.0% for single).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 </a:t>
            </a:r>
            <a:r>
              <a:rPr lang="en-US" b="1" dirty="0"/>
              <a:t>Marital Status Impact:</a:t>
            </a:r>
            <a:r>
              <a:rPr lang="en-US" dirty="0"/>
              <a:t> Across almost all categories (IT, Freelancers, Business Owners), married customers utilize more of their income than single customers.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Analyst Suggestion:</a:t>
            </a:r>
            <a:r>
              <a:rPr lang="en-US" dirty="0"/>
              <a:t> Create a "Family Rewards Program" or "Household Expense" card tier specifically for married IT professionals to capture more of their high-utilization spending.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9A476-3BF3-6D49-A73B-EF901721A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Average Income Utilization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F15D44-8B9E-7218-A882-95341291CC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69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584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Spending Pattern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Top Spend Categories:</a:t>
            </a:r>
            <a:endParaRPr lang="en-US" dirty="0"/>
          </a:p>
          <a:p>
            <a:pPr lvl="2"/>
            <a:r>
              <a:rPr lang="en-US" b="1" dirty="0"/>
              <a:t>Bills:</a:t>
            </a:r>
            <a:r>
              <a:rPr lang="en-US" dirty="0"/>
              <a:t> ₹105M</a:t>
            </a:r>
          </a:p>
          <a:p>
            <a:pPr lvl="2"/>
            <a:r>
              <a:rPr lang="en-US" b="1" dirty="0"/>
              <a:t>Groceries:</a:t>
            </a:r>
            <a:r>
              <a:rPr lang="en-US" dirty="0"/>
              <a:t> ₹86M</a:t>
            </a:r>
          </a:p>
          <a:p>
            <a:pPr lvl="2"/>
            <a:r>
              <a:rPr lang="en-US" b="1" dirty="0"/>
              <a:t>Electronics:</a:t>
            </a:r>
            <a:r>
              <a:rPr lang="en-US" dirty="0"/>
              <a:t> ₹80M</a:t>
            </a:r>
          </a:p>
          <a:p>
            <a:pPr marL="914400" lvl="2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 startAt="2"/>
            </a:pPr>
            <a:r>
              <a:rPr lang="en-US" b="1" dirty="0"/>
              <a:t>Monthly Trends:</a:t>
            </a:r>
            <a:r>
              <a:rPr lang="en-US" dirty="0"/>
              <a:t> Spending peaks in </a:t>
            </a:r>
            <a:r>
              <a:rPr lang="en-US" b="1" dirty="0"/>
              <a:t>September (₹116M)</a:t>
            </a:r>
            <a:r>
              <a:rPr lang="en-US" dirty="0"/>
              <a:t> and </a:t>
            </a:r>
            <a:r>
              <a:rPr lang="en-US" b="1" dirty="0"/>
              <a:t>August (₹101M)</a:t>
            </a:r>
            <a:r>
              <a:rPr lang="en-US" dirty="0"/>
              <a:t>, likely due to festive season shopping in India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b="1" dirty="0"/>
              <a:t>Analyst Suggestion:</a:t>
            </a:r>
            <a:r>
              <a:rPr lang="en-US" dirty="0"/>
              <a:t> * Launch high-reward "Festive Cashback" campaigns in August.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b="1" dirty="0"/>
              <a:t>Implement</a:t>
            </a:r>
            <a:r>
              <a:rPr lang="en-US" dirty="0"/>
              <a:t> "Auto-Bill Pay" rewards to secure the #1 spending category (Bills)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E2DCB-D584-7D14-8982-A1DEEBFFB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EC255C-58F0-E683-9415-BFD4AE50E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385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31E09-BBB7-7098-0321-2068A55D2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Analyst Recommendation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6C17F-2511-6D44-67C4-FB27F4352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49763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To maximize growth, Mitron Bank should launch a </a:t>
            </a:r>
            <a:r>
              <a:rPr lang="en-US" b="1" dirty="0"/>
              <a:t>Co-branded Credit Card</a:t>
            </a:r>
            <a:r>
              <a:rPr lang="en-US" dirty="0"/>
              <a:t> with a major electronics or grocery retailer, specifically targeting </a:t>
            </a:r>
            <a:r>
              <a:rPr lang="en-US" b="1" dirty="0"/>
              <a:t>Salaried IT professionals in Mumbai</a:t>
            </a:r>
            <a:r>
              <a:rPr lang="en-US" dirty="0"/>
              <a:t>. This aligns with our highest-spending demographic and our most utilized spending categories.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0284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403</Words>
  <Application>Microsoft Office PowerPoint</Application>
  <PresentationFormat>On-screen Show (4:3)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Mitron Bank  Analysis Dashboard  Power BI</vt:lpstr>
      <vt:lpstr>MITRON BANK BUISNESS</vt:lpstr>
      <vt:lpstr>Key KPIs</vt:lpstr>
      <vt:lpstr>Customer Demographics Classification</vt:lpstr>
      <vt:lpstr>Classify Customers by Demographics</vt:lpstr>
      <vt:lpstr>Average Income Utilization Analysis</vt:lpstr>
      <vt:lpstr>Average Income Utilization Analysis</vt:lpstr>
      <vt:lpstr>Spending Pattern Analysis</vt:lpstr>
      <vt:lpstr>PowerPoint Presentation</vt:lpstr>
      <vt:lpstr>Data Analyst Recommendation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Vishal Rahtore</dc:creator>
  <cp:keywords/>
  <dc:description>generated using python-pptx</dc:description>
  <cp:lastModifiedBy>Vishal Rahtore</cp:lastModifiedBy>
  <cp:revision>3</cp:revision>
  <dcterms:created xsi:type="dcterms:W3CDTF">2013-01-27T09:14:16Z</dcterms:created>
  <dcterms:modified xsi:type="dcterms:W3CDTF">2026-03-08T14:20:50Z</dcterms:modified>
  <cp:category/>
</cp:coreProperties>
</file>